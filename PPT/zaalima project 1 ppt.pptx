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899089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3969142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3591293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2D19EA6-0D37-451A-8665-A85426EE3D56}"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18113125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2D19EA6-0D37-451A-8665-A85426EE3D56}" type="datetimeFigureOut">
              <a:rPr lang="en-IN" smtClean="0"/>
              <a:t>04-11-2025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2945137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2D19EA6-0D37-451A-8665-A85426EE3D56}" type="datetimeFigureOut">
              <a:rPr lang="en-IN" smtClean="0"/>
              <a:t>04-11-2025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9206449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D19EA6-0D37-451A-8665-A85426EE3D56}" type="datetimeFigureOut">
              <a:rPr lang="en-IN" smtClean="0"/>
              <a:t>04-11-2025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29962097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D19EA6-0D37-451A-8665-A85426EE3D56}"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4230136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2D19EA6-0D37-451A-8665-A85426EE3D56}" type="datetimeFigureOut">
              <a:rPr lang="en-IN" smtClean="0"/>
              <a:t>04-11-2025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27200168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11428473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794417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876690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7595610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36129701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688330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2D19EA6-0D37-451A-8665-A85426EE3D56}" type="datetimeFigureOut">
              <a:rPr lang="en-IN" smtClean="0"/>
              <a:t>04-11-2025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7E19061-38AA-42CC-958C-C6A24A7336BF}" type="slidenum">
              <a:rPr lang="en-IN" smtClean="0"/>
              <a:t>‹#›</a:t>
            </a:fld>
            <a:endParaRPr lang="en-IN"/>
          </a:p>
        </p:txBody>
      </p:sp>
    </p:spTree>
    <p:extLst>
      <p:ext uri="{BB962C8B-B14F-4D97-AF65-F5344CB8AC3E}">
        <p14:creationId xmlns:p14="http://schemas.microsoft.com/office/powerpoint/2010/main" val="1500350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2D19EA6-0D37-451A-8665-A85426EE3D56}" type="datetimeFigureOut">
              <a:rPr lang="en-IN" smtClean="0"/>
              <a:t>04-11-2025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7E19061-38AA-42CC-958C-C6A24A7336BF}" type="slidenum">
              <a:rPr lang="en-IN" smtClean="0"/>
              <a:t>‹#›</a:t>
            </a:fld>
            <a:endParaRPr lang="en-IN"/>
          </a:p>
        </p:txBody>
      </p:sp>
    </p:spTree>
    <p:extLst>
      <p:ext uri="{BB962C8B-B14F-4D97-AF65-F5344CB8AC3E}">
        <p14:creationId xmlns:p14="http://schemas.microsoft.com/office/powerpoint/2010/main" val="7070623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E0FCD2C-DAE1-C275-B6D3-A99409D5B768}"/>
              </a:ext>
            </a:extLst>
          </p:cNvPr>
          <p:cNvSpPr>
            <a:spLocks noGrp="1"/>
          </p:cNvSpPr>
          <p:nvPr>
            <p:ph type="ctrTitle"/>
          </p:nvPr>
        </p:nvSpPr>
        <p:spPr>
          <a:prstGeom prst="rect">
            <a:avLst/>
          </a:prstGeom>
        </p:spPr>
        <p:txBody>
          <a:bodyPr vert="horz" lIns="91440" tIns="45720" rIns="91440" bIns="45720" rtlCol="0" anchor="ctr">
            <a:norm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dirty="0">
                <a:solidFill>
                  <a:schemeClr val="accent2">
                    <a:lumMod val="75000"/>
                  </a:schemeClr>
                </a:solidFill>
              </a:rPr>
              <a:t>Medical Equipment and Pharma Sales Dashboard</a:t>
            </a:r>
          </a:p>
        </p:txBody>
      </p:sp>
      <p:sp>
        <p:nvSpPr>
          <p:cNvPr id="5" name="Subtitle 2">
            <a:extLst>
              <a:ext uri="{FF2B5EF4-FFF2-40B4-BE49-F238E27FC236}">
                <a16:creationId xmlns:a16="http://schemas.microsoft.com/office/drawing/2014/main" id="{6E358015-5E48-A649-73B6-2EB974A868E9}"/>
              </a:ext>
            </a:extLst>
          </p:cNvPr>
          <p:cNvSpPr>
            <a:spLocks noGrp="1"/>
          </p:cNvSpPr>
          <p:nvPr>
            <p:ph type="subTitle" idx="1"/>
          </p:nvPr>
        </p:nvSpPr>
        <p:spPr>
          <a:xfrm>
            <a:off x="1403158" y="4923669"/>
            <a:ext cx="7766936" cy="1646302"/>
          </a:xfrm>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r>
              <a:rPr sz="1600" b="1" dirty="0">
                <a:solidFill>
                  <a:schemeClr val="accent4">
                    <a:lumMod val="50000"/>
                  </a:schemeClr>
                </a:solidFill>
              </a:rPr>
              <a:t>Ankita Nademwar</a:t>
            </a:r>
          </a:p>
          <a:p>
            <a:r>
              <a:rPr sz="1600" b="1" dirty="0">
                <a:solidFill>
                  <a:schemeClr val="accent4">
                    <a:lumMod val="50000"/>
                  </a:schemeClr>
                </a:solidFill>
              </a:rPr>
              <a:t>Analyst Intern</a:t>
            </a:r>
          </a:p>
          <a:p>
            <a:r>
              <a:rPr sz="1600" b="1" dirty="0">
                <a:solidFill>
                  <a:schemeClr val="accent4">
                    <a:lumMod val="50000"/>
                  </a:schemeClr>
                </a:solidFill>
              </a:rPr>
              <a:t>Project Duration: 15 Oct 2025 – 31 Oct 2025</a:t>
            </a:r>
          </a:p>
          <a:p>
            <a:r>
              <a:rPr sz="1600" b="1" dirty="0">
                <a:solidFill>
                  <a:schemeClr val="accent4">
                    <a:lumMod val="50000"/>
                  </a:schemeClr>
                </a:solidFill>
              </a:rPr>
              <a:t>Tool: Microsoft Power BI</a:t>
            </a:r>
            <a:endParaRPr lang="en-IN" sz="1600" b="1" dirty="0">
              <a:solidFill>
                <a:schemeClr val="accent4">
                  <a:lumMod val="50000"/>
                </a:schemeClr>
              </a:solidFill>
            </a:endParaRPr>
          </a:p>
          <a:p>
            <a:r>
              <a:rPr lang="en-IN" sz="1600" b="1" dirty="0">
                <a:solidFill>
                  <a:schemeClr val="accent4">
                    <a:lumMod val="50000"/>
                  </a:schemeClr>
                </a:solidFill>
              </a:rPr>
              <a:t>Organization: </a:t>
            </a:r>
            <a:r>
              <a:rPr lang="en-IN" sz="1600" b="1" dirty="0" err="1">
                <a:solidFill>
                  <a:schemeClr val="accent4">
                    <a:lumMod val="50000"/>
                  </a:schemeClr>
                </a:solidFill>
              </a:rPr>
              <a:t>Zaalima</a:t>
            </a:r>
            <a:r>
              <a:rPr lang="en-IN" sz="1600" b="1" dirty="0">
                <a:solidFill>
                  <a:schemeClr val="accent4">
                    <a:lumMod val="50000"/>
                  </a:schemeClr>
                </a:solidFill>
              </a:rPr>
              <a:t> Development </a:t>
            </a:r>
            <a:r>
              <a:rPr lang="en-IN" sz="1600" b="1" dirty="0" err="1">
                <a:solidFill>
                  <a:schemeClr val="accent4">
                    <a:lumMod val="50000"/>
                  </a:schemeClr>
                </a:solidFill>
              </a:rPr>
              <a:t>pvt.</a:t>
            </a:r>
            <a:r>
              <a:rPr lang="en-IN" sz="1600" b="1" dirty="0">
                <a:solidFill>
                  <a:schemeClr val="accent4">
                    <a:lumMod val="50000"/>
                  </a:schemeClr>
                </a:solidFill>
              </a:rPr>
              <a:t> Ltd.</a:t>
            </a:r>
            <a:endParaRPr sz="1600" b="1" dirty="0">
              <a:solidFill>
                <a:schemeClr val="accent4">
                  <a:lumMod val="50000"/>
                </a:schemeClr>
              </a:solidFill>
            </a:endParaRPr>
          </a:p>
        </p:txBody>
      </p:sp>
    </p:spTree>
    <p:extLst>
      <p:ext uri="{BB962C8B-B14F-4D97-AF65-F5344CB8AC3E}">
        <p14:creationId xmlns:p14="http://schemas.microsoft.com/office/powerpoint/2010/main" val="40998075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DE1944-5962-B9B5-94C8-955EFE12A28C}"/>
              </a:ext>
            </a:extLst>
          </p:cNvPr>
          <p:cNvSpPr>
            <a:spLocks noGrp="1"/>
          </p:cNvSpPr>
          <p:nvPr>
            <p:ph idx="1"/>
          </p:nvPr>
        </p:nvSpPr>
        <p:spPr/>
        <p:txBody>
          <a:bodyPr/>
          <a:lstStyle/>
          <a:p>
            <a:pPr>
              <a:defRPr sz="1800">
                <a:solidFill>
                  <a:srgbClr val="1E1E1E"/>
                </a:solidFill>
              </a:defRPr>
            </a:pPr>
            <a:r>
              <a:rPr lang="en-US" dirty="0">
                <a:latin typeface="Times New Roman" panose="02020603050405020304" pitchFamily="18" charset="0"/>
                <a:cs typeface="Times New Roman" panose="02020603050405020304" pitchFamily="18" charset="0"/>
              </a:rPr>
              <a:t>The sales team faced difficulty tracking performance across medical and pharma divisions.</a:t>
            </a:r>
          </a:p>
          <a:p>
            <a:pPr>
              <a:defRPr sz="1800">
                <a:solidFill>
                  <a:srgbClr val="1E1E1E"/>
                </a:solidFill>
              </a:defRPr>
            </a:pPr>
            <a:r>
              <a:rPr lang="en-US" dirty="0">
                <a:latin typeface="Times New Roman" panose="02020603050405020304" pitchFamily="18" charset="0"/>
                <a:cs typeface="Times New Roman" panose="02020603050405020304" pitchFamily="18" charset="0"/>
              </a:rPr>
              <a:t>Manual reporting caused delays in decision-making.</a:t>
            </a:r>
          </a:p>
          <a:p>
            <a:pPr>
              <a:defRPr sz="1800">
                <a:solidFill>
                  <a:srgbClr val="1E1E1E"/>
                </a:solidFill>
              </a:defRPr>
            </a:pPr>
            <a:endParaRPr lang="en-US" dirty="0">
              <a:latin typeface="Times New Roman" panose="02020603050405020304" pitchFamily="18" charset="0"/>
              <a:cs typeface="Times New Roman" panose="02020603050405020304" pitchFamily="18" charset="0"/>
            </a:endParaRPr>
          </a:p>
          <a:p>
            <a:pPr>
              <a:defRPr sz="1800">
                <a:solidFill>
                  <a:srgbClr val="1E1E1E"/>
                </a:solidFill>
              </a:defRPr>
            </a:pPr>
            <a:r>
              <a:rPr lang="en-US" b="1" dirty="0">
                <a:latin typeface="Times New Roman" panose="02020603050405020304" pitchFamily="18" charset="0"/>
                <a:cs typeface="Times New Roman" panose="02020603050405020304" pitchFamily="18" charset="0"/>
              </a:rPr>
              <a:t>Objectives:</a:t>
            </a:r>
          </a:p>
          <a:p>
            <a:pPr>
              <a:defRPr sz="1800">
                <a:solidFill>
                  <a:srgbClr val="1E1E1E"/>
                </a:solidFill>
              </a:defRPr>
            </a:pPr>
            <a:r>
              <a:rPr lang="en-US" dirty="0">
                <a:latin typeface="Times New Roman" panose="02020603050405020304" pitchFamily="18" charset="0"/>
                <a:cs typeface="Times New Roman" panose="02020603050405020304" pitchFamily="18" charset="0"/>
              </a:rPr>
              <a:t>• Combine medical equipment and pharma sales data.</a:t>
            </a:r>
          </a:p>
          <a:p>
            <a:pPr>
              <a:defRPr sz="1800">
                <a:solidFill>
                  <a:srgbClr val="1E1E1E"/>
                </a:solidFill>
              </a:defRPr>
            </a:pPr>
            <a:r>
              <a:rPr lang="en-US" dirty="0">
                <a:latin typeface="Times New Roman" panose="02020603050405020304" pitchFamily="18" charset="0"/>
                <a:cs typeface="Times New Roman" panose="02020603050405020304" pitchFamily="18" charset="0"/>
              </a:rPr>
              <a:t>• Track Total Sales, Units, and Margin.</a:t>
            </a:r>
          </a:p>
          <a:p>
            <a:pPr>
              <a:defRPr sz="1800">
                <a:solidFill>
                  <a:srgbClr val="1E1E1E"/>
                </a:solidFill>
              </a:defRPr>
            </a:pPr>
            <a:r>
              <a:rPr lang="en-US" dirty="0">
                <a:latin typeface="Times New Roman" panose="02020603050405020304" pitchFamily="18" charset="0"/>
                <a:cs typeface="Times New Roman" panose="02020603050405020304" pitchFamily="18" charset="0"/>
              </a:rPr>
              <a:t>• Identify top-performing products, hospitals, and regions.</a:t>
            </a:r>
          </a:p>
          <a:p>
            <a:pPr>
              <a:defRPr sz="1800">
                <a:solidFill>
                  <a:srgbClr val="1E1E1E"/>
                </a:solidFill>
              </a:defRPr>
            </a:pPr>
            <a:r>
              <a:rPr lang="en-US" dirty="0">
                <a:latin typeface="Times New Roman" panose="02020603050405020304" pitchFamily="18" charset="0"/>
                <a:cs typeface="Times New Roman" panose="02020603050405020304" pitchFamily="18" charset="0"/>
              </a:rPr>
              <a:t>• Provide an interactive dashboard for insights.</a:t>
            </a:r>
          </a:p>
          <a:p>
            <a:endParaRPr lang="en-IN" dirty="0"/>
          </a:p>
        </p:txBody>
      </p:sp>
      <p:sp>
        <p:nvSpPr>
          <p:cNvPr id="4" name="Subtitle 2">
            <a:extLst>
              <a:ext uri="{FF2B5EF4-FFF2-40B4-BE49-F238E27FC236}">
                <a16:creationId xmlns:a16="http://schemas.microsoft.com/office/drawing/2014/main" id="{57BD4C5B-BDC4-E996-81D6-D1D1BBF5B9E8}"/>
              </a:ext>
            </a:extLst>
          </p:cNvPr>
          <p:cNvSpPr>
            <a:spLocks noGrp="1"/>
          </p:cNvSpPr>
          <p:nvPr>
            <p:ph type="title"/>
          </p:nvPr>
        </p:nvSpPr>
        <p:spPr>
          <a:prstGeom prst="rect">
            <a:avLst/>
          </a:prstGeom>
        </p:spPr>
        <p:txBody>
          <a:bodyPr vert="horz" lIns="91440" tIns="45720" rIns="91440" bIns="45720" rtlCol="0">
            <a:normAutofit/>
          </a:bodyPr>
          <a:lstStyle>
            <a:lvl1pPr marL="0" indent="0" algn="ctr" defTabSz="457200" rtl="0" eaLnBrk="1" latinLnBrk="0" hangingPunct="1">
              <a:spcBef>
                <a:spcPct val="20000"/>
              </a:spcBef>
              <a:buFont typeface="Arial" panose="020B060402020202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2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2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20204"/>
              <a:buNone/>
              <a:defRPr sz="2000" kern="1200">
                <a:solidFill>
                  <a:schemeClr val="tx1">
                    <a:tint val="75000"/>
                  </a:schemeClr>
                </a:solidFill>
                <a:latin typeface="+mn-lt"/>
                <a:ea typeface="+mn-ea"/>
                <a:cs typeface="+mn-cs"/>
              </a:defRPr>
            </a:lvl9pPr>
          </a:lstStyle>
          <a:p>
            <a:r>
              <a:rPr lang="en-IN" b="1" dirty="0">
                <a:solidFill>
                  <a:schemeClr val="accent4">
                    <a:lumMod val="50000"/>
                  </a:schemeClr>
                </a:solidFill>
                <a:latin typeface="Times New Roman" panose="02020603050405020304" pitchFamily="18" charset="0"/>
                <a:cs typeface="Times New Roman" panose="02020603050405020304" pitchFamily="18" charset="0"/>
              </a:rPr>
              <a:t>Problem Statement &amp; Objectives</a:t>
            </a:r>
            <a:br>
              <a:rPr lang="en-IN" dirty="0"/>
            </a:br>
            <a:endParaRPr dirty="0"/>
          </a:p>
        </p:txBody>
      </p:sp>
    </p:spTree>
    <p:extLst>
      <p:ext uri="{BB962C8B-B14F-4D97-AF65-F5344CB8AC3E}">
        <p14:creationId xmlns:p14="http://schemas.microsoft.com/office/powerpoint/2010/main" val="1685741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FAE92-395E-F178-7000-FE6963E95B5F}"/>
              </a:ext>
            </a:extLst>
          </p:cNvPr>
          <p:cNvSpPr>
            <a:spLocks noGrp="1"/>
          </p:cNvSpPr>
          <p:nvPr>
            <p:ph type="title"/>
          </p:nvPr>
        </p:nvSpPr>
        <p:spPr/>
        <p:txBody>
          <a:bodyPr/>
          <a:lstStyle/>
          <a:p>
            <a:r>
              <a:rPr lang="en-IN" dirty="0"/>
              <a:t>                  </a:t>
            </a:r>
            <a:r>
              <a:rPr lang="en-IN" dirty="0">
                <a:solidFill>
                  <a:schemeClr val="accent4">
                    <a:lumMod val="50000"/>
                  </a:schemeClr>
                </a:solidFill>
                <a:latin typeface="Times New Roman" panose="02020603050405020304" pitchFamily="18" charset="0"/>
                <a:cs typeface="Times New Roman" panose="02020603050405020304" pitchFamily="18" charset="0"/>
              </a:rPr>
              <a:t>Data Overview</a:t>
            </a:r>
            <a:br>
              <a:rPr lang="en-IN" dirty="0"/>
            </a:br>
            <a:endParaRPr lang="en-IN" dirty="0"/>
          </a:p>
        </p:txBody>
      </p:sp>
      <p:sp>
        <p:nvSpPr>
          <p:cNvPr id="3" name="Content Placeholder 2">
            <a:extLst>
              <a:ext uri="{FF2B5EF4-FFF2-40B4-BE49-F238E27FC236}">
                <a16:creationId xmlns:a16="http://schemas.microsoft.com/office/drawing/2014/main" id="{F6BB14E3-9544-D13F-3D1B-D9E64F4B9F7E}"/>
              </a:ext>
            </a:extLst>
          </p:cNvPr>
          <p:cNvSpPr>
            <a:spLocks noGrp="1"/>
          </p:cNvSpPr>
          <p:nvPr>
            <p:ph idx="1"/>
          </p:nvPr>
        </p:nvSpPr>
        <p:spPr/>
        <p:txBody>
          <a:bodyPr/>
          <a:lstStyle/>
          <a:p>
            <a:pPr>
              <a:defRPr sz="1800">
                <a:solidFill>
                  <a:srgbClr val="1E1E1E"/>
                </a:solidFill>
              </a:defRPr>
            </a:pPr>
            <a:endParaRPr lang="en-US" dirty="0"/>
          </a:p>
          <a:p>
            <a:pPr>
              <a:defRPr sz="1800">
                <a:solidFill>
                  <a:srgbClr val="1E1E1E"/>
                </a:solidFill>
              </a:defRPr>
            </a:pPr>
            <a:endParaRPr lang="en-US" dirty="0"/>
          </a:p>
          <a:p>
            <a:pPr>
              <a:defRPr sz="1800">
                <a:solidFill>
                  <a:srgbClr val="1E1E1E"/>
                </a:solidFill>
              </a:defRPr>
            </a:pPr>
            <a:r>
              <a:rPr lang="en-US" dirty="0">
                <a:latin typeface="Times New Roman" panose="02020603050405020304" pitchFamily="18" charset="0"/>
                <a:cs typeface="Times New Roman" panose="02020603050405020304" pitchFamily="18" charset="0"/>
              </a:rPr>
              <a:t>Source: Internal medical and pharma sales dataset (CSV).</a:t>
            </a:r>
          </a:p>
          <a:p>
            <a:pPr>
              <a:defRPr sz="1800">
                <a:solidFill>
                  <a:srgbClr val="1E1E1E"/>
                </a:solidFill>
              </a:defRPr>
            </a:pPr>
            <a:r>
              <a:rPr lang="en-US" dirty="0">
                <a:latin typeface="Times New Roman" panose="02020603050405020304" pitchFamily="18" charset="0"/>
                <a:cs typeface="Times New Roman" panose="02020603050405020304" pitchFamily="18" charset="0"/>
              </a:rPr>
              <a:t>Duration: 2024 – 2025 | Records: 10,000+</a:t>
            </a:r>
          </a:p>
          <a:p>
            <a:pPr>
              <a:defRPr sz="1800">
                <a:solidFill>
                  <a:srgbClr val="1E1E1E"/>
                </a:solidFill>
              </a:defRPr>
            </a:pPr>
            <a:r>
              <a:rPr lang="en-US" dirty="0">
                <a:latin typeface="Times New Roman" panose="02020603050405020304" pitchFamily="18" charset="0"/>
                <a:cs typeface="Times New Roman" panose="02020603050405020304" pitchFamily="18" charset="0"/>
              </a:rPr>
              <a:t>Key Fields: Date, Region, Hospital, Product, Manufacturer, Sales, Units, Margin.</a:t>
            </a:r>
          </a:p>
          <a:p>
            <a:pPr>
              <a:defRPr sz="1800">
                <a:solidFill>
                  <a:srgbClr val="1E1E1E"/>
                </a:solidFill>
              </a:defRPr>
            </a:pPr>
            <a:r>
              <a:rPr lang="en-US" dirty="0">
                <a:latin typeface="Times New Roman" panose="02020603050405020304" pitchFamily="18" charset="0"/>
                <a:cs typeface="Times New Roman" panose="02020603050405020304" pitchFamily="18" charset="0"/>
              </a:rPr>
              <a:t>Purpose: To analyze performance and identify sales trends.</a:t>
            </a:r>
          </a:p>
          <a:p>
            <a:endParaRPr lang="en-IN" dirty="0"/>
          </a:p>
        </p:txBody>
      </p:sp>
    </p:spTree>
    <p:extLst>
      <p:ext uri="{BB962C8B-B14F-4D97-AF65-F5344CB8AC3E}">
        <p14:creationId xmlns:p14="http://schemas.microsoft.com/office/powerpoint/2010/main" val="32975202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8EE11-659D-E2F9-D76C-2AED4A1E35C7}"/>
              </a:ext>
            </a:extLst>
          </p:cNvPr>
          <p:cNvSpPr>
            <a:spLocks noGrp="1"/>
          </p:cNvSpPr>
          <p:nvPr>
            <p:ph type="title"/>
          </p:nvPr>
        </p:nvSpPr>
        <p:spPr/>
        <p:txBody>
          <a:bodyPr/>
          <a:lstStyle/>
          <a:p>
            <a:r>
              <a:rPr lang="en-IN" dirty="0"/>
              <a:t>					</a:t>
            </a:r>
            <a:r>
              <a:rPr lang="en-IN" dirty="0">
                <a:solidFill>
                  <a:schemeClr val="accent4">
                    <a:lumMod val="50000"/>
                  </a:schemeClr>
                </a:solidFill>
                <a:latin typeface="Times New Roman" panose="02020603050405020304" pitchFamily="18" charset="0"/>
                <a:cs typeface="Times New Roman" panose="02020603050405020304" pitchFamily="18" charset="0"/>
              </a:rPr>
              <a:t>Data Preparation</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7EBD83-67BF-1E8C-7199-30165FB260A5}"/>
              </a:ext>
            </a:extLst>
          </p:cNvPr>
          <p:cNvSpPr>
            <a:spLocks noGrp="1"/>
          </p:cNvSpPr>
          <p:nvPr>
            <p:ph idx="1"/>
          </p:nvPr>
        </p:nvSpPr>
        <p:spPr/>
        <p:txBody>
          <a:bodyPr/>
          <a:lstStyle/>
          <a:p>
            <a:pPr>
              <a:defRPr sz="1800">
                <a:solidFill>
                  <a:srgbClr val="1E1E1E"/>
                </a:solidFill>
              </a:defRPr>
            </a:pPr>
            <a:endParaRPr lang="en-US" dirty="0"/>
          </a:p>
          <a:p>
            <a:pPr>
              <a:defRPr sz="1800">
                <a:solidFill>
                  <a:srgbClr val="1E1E1E"/>
                </a:solidFill>
              </a:defRPr>
            </a:pPr>
            <a:endParaRPr lang="en-US" dirty="0"/>
          </a:p>
          <a:p>
            <a:pPr>
              <a:defRPr sz="1800">
                <a:solidFill>
                  <a:srgbClr val="1E1E1E"/>
                </a:solidFill>
              </a:defRPr>
            </a:pPr>
            <a:r>
              <a:rPr lang="en-US" dirty="0">
                <a:latin typeface="Times New Roman" panose="02020603050405020304" pitchFamily="18" charset="0"/>
                <a:cs typeface="Times New Roman" panose="02020603050405020304" pitchFamily="18" charset="0"/>
              </a:rPr>
              <a:t>• Cleaned nulls, duplicates, and standardized formats.</a:t>
            </a:r>
          </a:p>
          <a:p>
            <a:pPr>
              <a:defRPr sz="1800">
                <a:solidFill>
                  <a:srgbClr val="1E1E1E"/>
                </a:solidFill>
              </a:defRPr>
            </a:pPr>
            <a:r>
              <a:rPr lang="en-US" dirty="0">
                <a:latin typeface="Times New Roman" panose="02020603050405020304" pitchFamily="18" charset="0"/>
                <a:cs typeface="Times New Roman" panose="02020603050405020304" pitchFamily="18" charset="0"/>
              </a:rPr>
              <a:t>• Removed redundant Month/Year columns.</a:t>
            </a:r>
          </a:p>
          <a:p>
            <a:pPr>
              <a:defRPr sz="1800">
                <a:solidFill>
                  <a:srgbClr val="1E1E1E"/>
                </a:solidFill>
              </a:defRPr>
            </a:pPr>
            <a:r>
              <a:rPr lang="en-US" dirty="0">
                <a:latin typeface="Times New Roman" panose="02020603050405020304" pitchFamily="18" charset="0"/>
                <a:cs typeface="Times New Roman" panose="02020603050405020304" pitchFamily="18" charset="0"/>
              </a:rPr>
              <a:t>• Added calculated measures: Total Sales, Total Units, Gross Margin %.</a:t>
            </a:r>
          </a:p>
          <a:p>
            <a:pPr>
              <a:defRPr sz="1800">
                <a:solidFill>
                  <a:srgbClr val="1E1E1E"/>
                </a:solidFill>
              </a:defRPr>
            </a:pPr>
            <a:r>
              <a:rPr lang="en-US" dirty="0">
                <a:latin typeface="Times New Roman" panose="02020603050405020304" pitchFamily="18" charset="0"/>
                <a:cs typeface="Times New Roman" panose="02020603050405020304" pitchFamily="18" charset="0"/>
              </a:rPr>
              <a:t>• Modeled relationships and built time hierarchy in Power BI.</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25622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7472F-9E0B-8243-4510-19F4C9649454}"/>
              </a:ext>
            </a:extLst>
          </p:cNvPr>
          <p:cNvSpPr>
            <a:spLocks noGrp="1"/>
          </p:cNvSpPr>
          <p:nvPr>
            <p:ph type="title"/>
          </p:nvPr>
        </p:nvSpPr>
        <p:spPr/>
        <p:txBody>
          <a:bodyPr/>
          <a:lstStyle/>
          <a:p>
            <a:r>
              <a:rPr lang="en-IN" dirty="0"/>
              <a:t>			</a:t>
            </a:r>
            <a:r>
              <a:rPr lang="en-IN" dirty="0">
                <a:solidFill>
                  <a:schemeClr val="accent4">
                    <a:lumMod val="50000"/>
                  </a:schemeClr>
                </a:solidFill>
                <a:latin typeface="Times New Roman" panose="02020603050405020304" pitchFamily="18" charset="0"/>
                <a:cs typeface="Times New Roman" panose="02020603050405020304" pitchFamily="18" charset="0"/>
              </a:rPr>
              <a:t>Dashboard Design Approach</a:t>
            </a:r>
            <a:br>
              <a:rPr lang="en-IN"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99C8020-09AF-EBED-DFBF-A99957E2597A}"/>
              </a:ext>
            </a:extLst>
          </p:cNvPr>
          <p:cNvSpPr>
            <a:spLocks noGrp="1"/>
          </p:cNvSpPr>
          <p:nvPr>
            <p:ph idx="1"/>
          </p:nvPr>
        </p:nvSpPr>
        <p:spPr/>
        <p:txBody>
          <a:bodyPr/>
          <a:lstStyle/>
          <a:p>
            <a:pPr>
              <a:defRPr sz="1800">
                <a:solidFill>
                  <a:srgbClr val="1E1E1E"/>
                </a:solidFill>
              </a:defRPr>
            </a:pPr>
            <a:endParaRPr lang="en-US" dirty="0"/>
          </a:p>
          <a:p>
            <a:pPr>
              <a:defRPr sz="1800">
                <a:solidFill>
                  <a:srgbClr val="1E1E1E"/>
                </a:solidFill>
              </a:defRPr>
            </a:pPr>
            <a:endParaRPr lang="en-US" dirty="0"/>
          </a:p>
          <a:p>
            <a:pPr>
              <a:defRPr sz="1800">
                <a:solidFill>
                  <a:srgbClr val="1E1E1E"/>
                </a:solidFill>
              </a:defRPr>
            </a:pPr>
            <a:endParaRPr lang="en-US" dirty="0"/>
          </a:p>
          <a:p>
            <a:pPr>
              <a:defRPr sz="1800">
                <a:solidFill>
                  <a:srgbClr val="1E1E1E"/>
                </a:solidFill>
              </a:defRPr>
            </a:pPr>
            <a:r>
              <a:rPr lang="en-US" dirty="0">
                <a:latin typeface="Times New Roman" panose="02020603050405020304" pitchFamily="18" charset="0"/>
                <a:cs typeface="Times New Roman" panose="02020603050405020304" pitchFamily="18" charset="0"/>
              </a:rPr>
              <a:t>• Used a Green theme to represent healthcare and trust.</a:t>
            </a:r>
          </a:p>
          <a:p>
            <a:pPr>
              <a:defRPr sz="1800">
                <a:solidFill>
                  <a:srgbClr val="1E1E1E"/>
                </a:solidFill>
              </a:defRPr>
            </a:pPr>
            <a:r>
              <a:rPr lang="en-US" dirty="0">
                <a:latin typeface="Times New Roman" panose="02020603050405020304" pitchFamily="18" charset="0"/>
                <a:cs typeface="Times New Roman" panose="02020603050405020304" pitchFamily="18" charset="0"/>
              </a:rPr>
              <a:t>• Divided dashboard into three main pages: Overview, Product Deep Dive, Region Insights.</a:t>
            </a:r>
          </a:p>
          <a:p>
            <a:pPr>
              <a:defRPr sz="1800">
                <a:solidFill>
                  <a:srgbClr val="1E1E1E"/>
                </a:solidFill>
              </a:defRPr>
            </a:pPr>
            <a:r>
              <a:rPr lang="en-US" dirty="0">
                <a:latin typeface="Times New Roman" panose="02020603050405020304" pitchFamily="18" charset="0"/>
                <a:cs typeface="Times New Roman" panose="02020603050405020304" pitchFamily="18" charset="0"/>
              </a:rPr>
              <a:t>• Added slicers, drill-through, and map visuals for interactivity.</a:t>
            </a:r>
          </a:p>
          <a:p>
            <a:endParaRPr lang="en-IN" dirty="0"/>
          </a:p>
        </p:txBody>
      </p:sp>
    </p:spTree>
    <p:extLst>
      <p:ext uri="{BB962C8B-B14F-4D97-AF65-F5344CB8AC3E}">
        <p14:creationId xmlns:p14="http://schemas.microsoft.com/office/powerpoint/2010/main" val="4272122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5DA3F-E8E5-F013-DCCD-ECB0D2C391CA}"/>
              </a:ext>
            </a:extLst>
          </p:cNvPr>
          <p:cNvSpPr>
            <a:spLocks noGrp="1"/>
          </p:cNvSpPr>
          <p:nvPr>
            <p:ph type="title"/>
          </p:nvPr>
        </p:nvSpPr>
        <p:spPr/>
        <p:txBody>
          <a:bodyPr/>
          <a:lstStyle/>
          <a:p>
            <a:r>
              <a:rPr lang="en-IN" dirty="0"/>
              <a:t>            </a:t>
            </a:r>
            <a:r>
              <a:rPr lang="en-IN" dirty="0">
                <a:solidFill>
                  <a:schemeClr val="accent4">
                    <a:lumMod val="50000"/>
                  </a:schemeClr>
                </a:solidFill>
              </a:rPr>
              <a:t>1-Overview page</a:t>
            </a:r>
          </a:p>
        </p:txBody>
      </p:sp>
      <p:pic>
        <p:nvPicPr>
          <p:cNvPr id="4" name="Content Placeholder 3">
            <a:extLst>
              <a:ext uri="{FF2B5EF4-FFF2-40B4-BE49-F238E27FC236}">
                <a16:creationId xmlns:a16="http://schemas.microsoft.com/office/drawing/2014/main" id="{CBEE2050-3E69-BF2C-3642-800BC2D2EF09}"/>
              </a:ext>
            </a:extLst>
          </p:cNvPr>
          <p:cNvPicPr>
            <a:picLocks noGrp="1" noChangeAspect="1"/>
          </p:cNvPicPr>
          <p:nvPr>
            <p:ph idx="1"/>
          </p:nvPr>
        </p:nvPicPr>
        <p:blipFill>
          <a:blip r:embed="rId2"/>
          <a:stretch>
            <a:fillRect/>
          </a:stretch>
        </p:blipFill>
        <p:spPr>
          <a:xfrm>
            <a:off x="677334" y="1270000"/>
            <a:ext cx="8651637" cy="5054889"/>
          </a:xfrm>
          <a:prstGeom prst="rect">
            <a:avLst/>
          </a:prstGeom>
        </p:spPr>
      </p:pic>
    </p:spTree>
    <p:extLst>
      <p:ext uri="{BB962C8B-B14F-4D97-AF65-F5344CB8AC3E}">
        <p14:creationId xmlns:p14="http://schemas.microsoft.com/office/powerpoint/2010/main" val="2985345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30D6D-394B-1C2F-E679-25D4413B9BDB}"/>
              </a:ext>
            </a:extLst>
          </p:cNvPr>
          <p:cNvSpPr>
            <a:spLocks noGrp="1"/>
          </p:cNvSpPr>
          <p:nvPr>
            <p:ph type="title"/>
          </p:nvPr>
        </p:nvSpPr>
        <p:spPr/>
        <p:txBody>
          <a:bodyPr/>
          <a:lstStyle/>
          <a:p>
            <a:r>
              <a:rPr lang="en-IN" dirty="0"/>
              <a:t>          </a:t>
            </a:r>
            <a:r>
              <a:rPr lang="en-IN" dirty="0">
                <a:solidFill>
                  <a:schemeClr val="accent4">
                    <a:lumMod val="50000"/>
                  </a:schemeClr>
                </a:solidFill>
              </a:rPr>
              <a:t>2-Product Deep-dive page</a:t>
            </a:r>
          </a:p>
        </p:txBody>
      </p:sp>
      <p:pic>
        <p:nvPicPr>
          <p:cNvPr id="4" name="Content Placeholder 3">
            <a:extLst>
              <a:ext uri="{FF2B5EF4-FFF2-40B4-BE49-F238E27FC236}">
                <a16:creationId xmlns:a16="http://schemas.microsoft.com/office/drawing/2014/main" id="{D66F3607-E891-5757-CEA3-A539D84D82D2}"/>
              </a:ext>
            </a:extLst>
          </p:cNvPr>
          <p:cNvPicPr>
            <a:picLocks noGrp="1" noChangeAspect="1"/>
          </p:cNvPicPr>
          <p:nvPr>
            <p:ph idx="1"/>
          </p:nvPr>
        </p:nvPicPr>
        <p:blipFill>
          <a:blip r:embed="rId2"/>
          <a:stretch>
            <a:fillRect/>
          </a:stretch>
        </p:blipFill>
        <p:spPr>
          <a:xfrm>
            <a:off x="806879" y="1415473"/>
            <a:ext cx="8337578" cy="4919807"/>
          </a:xfrm>
          <a:prstGeom prst="rect">
            <a:avLst/>
          </a:prstGeom>
        </p:spPr>
      </p:pic>
    </p:spTree>
    <p:extLst>
      <p:ext uri="{BB962C8B-B14F-4D97-AF65-F5344CB8AC3E}">
        <p14:creationId xmlns:p14="http://schemas.microsoft.com/office/powerpoint/2010/main" val="4433679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C7E3C-729F-73B7-4381-2593339F2C1D}"/>
              </a:ext>
            </a:extLst>
          </p:cNvPr>
          <p:cNvSpPr>
            <a:spLocks noGrp="1"/>
          </p:cNvSpPr>
          <p:nvPr>
            <p:ph type="title"/>
          </p:nvPr>
        </p:nvSpPr>
        <p:spPr/>
        <p:txBody>
          <a:bodyPr/>
          <a:lstStyle/>
          <a:p>
            <a:r>
              <a:rPr lang="en-IN" dirty="0"/>
              <a:t>			</a:t>
            </a:r>
            <a:r>
              <a:rPr lang="en-IN" dirty="0">
                <a:solidFill>
                  <a:schemeClr val="accent4">
                    <a:lumMod val="50000"/>
                  </a:schemeClr>
                </a:solidFill>
              </a:rPr>
              <a:t>3-Region Deep-dive Page</a:t>
            </a:r>
          </a:p>
        </p:txBody>
      </p:sp>
      <p:pic>
        <p:nvPicPr>
          <p:cNvPr id="4" name="Content Placeholder 3">
            <a:extLst>
              <a:ext uri="{FF2B5EF4-FFF2-40B4-BE49-F238E27FC236}">
                <a16:creationId xmlns:a16="http://schemas.microsoft.com/office/drawing/2014/main" id="{3DF20218-A4A5-8C03-DE6C-A93BB6DE6B1B}"/>
              </a:ext>
            </a:extLst>
          </p:cNvPr>
          <p:cNvPicPr>
            <a:picLocks noGrp="1" noChangeAspect="1"/>
          </p:cNvPicPr>
          <p:nvPr>
            <p:ph idx="1"/>
          </p:nvPr>
        </p:nvPicPr>
        <p:blipFill>
          <a:blip r:embed="rId2"/>
          <a:stretch>
            <a:fillRect/>
          </a:stretch>
        </p:blipFill>
        <p:spPr>
          <a:xfrm>
            <a:off x="789302" y="1359766"/>
            <a:ext cx="8218122" cy="4888634"/>
          </a:xfrm>
          <a:prstGeom prst="rect">
            <a:avLst/>
          </a:prstGeom>
        </p:spPr>
      </p:pic>
    </p:spTree>
    <p:extLst>
      <p:ext uri="{BB962C8B-B14F-4D97-AF65-F5344CB8AC3E}">
        <p14:creationId xmlns:p14="http://schemas.microsoft.com/office/powerpoint/2010/main" val="1367854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3F1CEA-B59E-BD83-AC8F-E622A5652FBD}"/>
              </a:ext>
            </a:extLst>
          </p:cNvPr>
          <p:cNvSpPr>
            <a:spLocks noGrp="1"/>
          </p:cNvSpPr>
          <p:nvPr>
            <p:ph type="title"/>
          </p:nvPr>
        </p:nvSpPr>
        <p:spPr/>
        <p:txBody>
          <a:bodyPr/>
          <a:lstStyle/>
          <a:p>
            <a:r>
              <a:rPr lang="en-IN" b="1" dirty="0">
                <a:solidFill>
                  <a:schemeClr val="accent4">
                    <a:lumMod val="50000"/>
                  </a:schemeClr>
                </a:solidFill>
                <a:latin typeface="Times New Roman" panose="02020603050405020304" pitchFamily="18" charset="0"/>
                <a:cs typeface="Times New Roman" panose="02020603050405020304" pitchFamily="18" charset="0"/>
              </a:rPr>
              <a:t>                      Key Findings</a:t>
            </a:r>
            <a:br>
              <a:rPr lang="en-IN" b="1" dirty="0"/>
            </a:br>
            <a:endParaRPr lang="en-IN" dirty="0"/>
          </a:p>
        </p:txBody>
      </p:sp>
      <p:sp>
        <p:nvSpPr>
          <p:cNvPr id="3" name="Content Placeholder 2">
            <a:extLst>
              <a:ext uri="{FF2B5EF4-FFF2-40B4-BE49-F238E27FC236}">
                <a16:creationId xmlns:a16="http://schemas.microsoft.com/office/drawing/2014/main" id="{37AE2174-A525-FB5F-5FFE-EE6E7064928D}"/>
              </a:ext>
            </a:extLst>
          </p:cNvPr>
          <p:cNvSpPr>
            <a:spLocks noGrp="1"/>
          </p:cNvSpPr>
          <p:nvPr>
            <p:ph idx="1"/>
          </p:nvPr>
        </p:nvSpPr>
        <p:spPr>
          <a:xfrm>
            <a:off x="677334" y="1537855"/>
            <a:ext cx="8596668" cy="4873336"/>
          </a:xfrm>
        </p:spPr>
        <p:txBody>
          <a:bodyPr/>
          <a:lstStyle/>
          <a:p>
            <a:endParaRPr lang="en-US" dirty="0"/>
          </a:p>
          <a:p>
            <a:r>
              <a:rPr lang="en-US" dirty="0">
                <a:latin typeface="Times New Roman" panose="02020603050405020304" pitchFamily="18" charset="0"/>
                <a:cs typeface="Times New Roman" panose="02020603050405020304" pitchFamily="18" charset="0"/>
              </a:rPr>
              <a:t>Total Sales across all regions amounted to ₹260.6 Cr with 77K total units sold and an average Gross Margin of 22.5%.</a:t>
            </a:r>
          </a:p>
          <a:p>
            <a:r>
              <a:rPr lang="en-US" dirty="0">
                <a:latin typeface="Times New Roman" panose="02020603050405020304" pitchFamily="18" charset="0"/>
                <a:cs typeface="Times New Roman" panose="02020603050405020304" pitchFamily="18" charset="0"/>
              </a:rPr>
              <a:t>• Delhi, Chennai, and Jaipur emerged as the top-performing regions in terms of total revenue.</a:t>
            </a:r>
          </a:p>
          <a:p>
            <a:r>
              <a:rPr lang="en-US" dirty="0">
                <a:latin typeface="Times New Roman" panose="02020603050405020304" pitchFamily="18" charset="0"/>
                <a:cs typeface="Times New Roman" panose="02020603050405020304" pitchFamily="18" charset="0"/>
              </a:rPr>
              <a:t>• Equipment category contributed to nearly all the total sales, indicating a dominant product line compared to Pharma.</a:t>
            </a:r>
          </a:p>
          <a:p>
            <a:r>
              <a:rPr lang="en-US" dirty="0">
                <a:latin typeface="Times New Roman" panose="02020603050405020304" pitchFamily="18" charset="0"/>
                <a:cs typeface="Times New Roman" panose="02020603050405020304" pitchFamily="18" charset="0"/>
              </a:rPr>
              <a:t>• Top-selling products include Ultrasound 3D, Syringe Pump, and Hospital Bed - Electric, showing strong demand in diagnostic and patient care equipment.</a:t>
            </a:r>
          </a:p>
          <a:p>
            <a:r>
              <a:rPr lang="en-US" dirty="0">
                <a:latin typeface="Times New Roman" panose="02020603050405020304" pitchFamily="18" charset="0"/>
                <a:cs typeface="Times New Roman" panose="02020603050405020304" pitchFamily="18" charset="0"/>
              </a:rPr>
              <a:t>• Aurobindo, Cipla, and Dr. Reddy’s were among the leading manufacturers contributing to total sales.</a:t>
            </a:r>
          </a:p>
          <a:p>
            <a:endParaRPr lang="en-IN" dirty="0"/>
          </a:p>
        </p:txBody>
      </p:sp>
    </p:spTree>
    <p:extLst>
      <p:ext uri="{BB962C8B-B14F-4D97-AF65-F5344CB8AC3E}">
        <p14:creationId xmlns:p14="http://schemas.microsoft.com/office/powerpoint/2010/main" val="38446185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A82E6-D6BA-7C99-C041-56946FE3FE74}"/>
              </a:ext>
            </a:extLst>
          </p:cNvPr>
          <p:cNvSpPr>
            <a:spLocks noGrp="1"/>
          </p:cNvSpPr>
          <p:nvPr>
            <p:ph type="title"/>
          </p:nvPr>
        </p:nvSpPr>
        <p:spPr/>
        <p:txBody>
          <a:bodyPr/>
          <a:lstStyle/>
          <a:p>
            <a:r>
              <a:rPr lang="en-IN" dirty="0"/>
              <a:t>					</a:t>
            </a:r>
            <a:r>
              <a:rPr lang="en-IN" dirty="0">
                <a:solidFill>
                  <a:schemeClr val="accent4">
                    <a:lumMod val="50000"/>
                  </a:schemeClr>
                </a:solidFill>
                <a:latin typeface="Times New Roman" panose="02020603050405020304" pitchFamily="18" charset="0"/>
                <a:cs typeface="Times New Roman" panose="02020603050405020304" pitchFamily="18" charset="0"/>
              </a:rPr>
              <a:t>Recommendations</a:t>
            </a:r>
            <a:br>
              <a:rPr lang="en-IN" dirty="0">
                <a:solidFill>
                  <a:schemeClr val="accent4">
                    <a:lumMod val="50000"/>
                  </a:schemeClr>
                </a:solidFill>
                <a:latin typeface="Times New Roman" panose="02020603050405020304" pitchFamily="18" charset="0"/>
                <a:cs typeface="Times New Roman" panose="02020603050405020304" pitchFamily="18" charset="0"/>
              </a:rPr>
            </a:br>
            <a:endParaRPr lang="en-IN"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0B29A00-B120-793E-5890-5F07E7EC592D}"/>
              </a:ext>
            </a:extLst>
          </p:cNvPr>
          <p:cNvSpPr>
            <a:spLocks noGrp="1"/>
          </p:cNvSpPr>
          <p:nvPr>
            <p:ph idx="1"/>
          </p:nvPr>
        </p:nvSpPr>
        <p:spPr/>
        <p:txBody>
          <a:bodyPr>
            <a:normAutofit/>
          </a:bodyPr>
          <a:lstStyle/>
          <a:p>
            <a:pPr marL="0" indent="0">
              <a:buNone/>
            </a:pPr>
            <a:endParaRPr lang="en-US" dirty="0"/>
          </a:p>
          <a:p>
            <a:pPr marL="0" indent="0">
              <a:buNone/>
            </a:pPr>
            <a:r>
              <a:rPr lang="en-US" dirty="0"/>
              <a:t>     </a:t>
            </a:r>
            <a:r>
              <a:rPr lang="en-US" dirty="0">
                <a:latin typeface="Times New Roman" panose="02020603050405020304" pitchFamily="18" charset="0"/>
                <a:cs typeface="Times New Roman" panose="02020603050405020304" pitchFamily="18" charset="0"/>
              </a:rPr>
              <a:t>• Focus sales efforts on high-performing regions such as Delhi and Chennai.</a:t>
            </a:r>
          </a:p>
          <a:p>
            <a:pPr marL="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Increase marketing and distributor support in lower-performing cities.</a:t>
            </a:r>
          </a:p>
          <a:p>
            <a:pPr marL="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Expand partnerships with large hospital networks to increase recurring                 sales.</a:t>
            </a:r>
          </a:p>
          <a:p>
            <a:pPr marL="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Implement predictive modeling in Power BI for future sales forecasting.</a:t>
            </a:r>
          </a:p>
          <a:p>
            <a:pPr marL="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 Continue integrating new data for continuous performance monitoring.</a:t>
            </a:r>
          </a:p>
          <a:p>
            <a:endParaRPr lang="en-IN" dirty="0"/>
          </a:p>
        </p:txBody>
      </p:sp>
    </p:spTree>
    <p:extLst>
      <p:ext uri="{BB962C8B-B14F-4D97-AF65-F5344CB8AC3E}">
        <p14:creationId xmlns:p14="http://schemas.microsoft.com/office/powerpoint/2010/main" val="321846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600CC-E799-CA4F-FA35-637B8A2F66AC}"/>
              </a:ext>
            </a:extLst>
          </p:cNvPr>
          <p:cNvSpPr>
            <a:spLocks noGrp="1"/>
          </p:cNvSpPr>
          <p:nvPr>
            <p:ph type="title"/>
          </p:nvPr>
        </p:nvSpPr>
        <p:spPr/>
        <p:txBody>
          <a:bodyPr/>
          <a:lstStyle/>
          <a:p>
            <a:r>
              <a:rPr lang="en-IN" dirty="0"/>
              <a:t>					</a:t>
            </a:r>
            <a:r>
              <a:rPr lang="en-IN" dirty="0">
                <a:solidFill>
                  <a:schemeClr val="accent4">
                    <a:lumMod val="50000"/>
                  </a:schemeClr>
                </a:solidFill>
                <a:latin typeface="Times New Roman" panose="02020603050405020304" pitchFamily="18" charset="0"/>
                <a:cs typeface="Times New Roman" panose="02020603050405020304" pitchFamily="18" charset="0"/>
              </a:rPr>
              <a:t>Tools &amp; Tech Stack</a:t>
            </a:r>
            <a:br>
              <a:rPr lang="en-IN" dirty="0"/>
            </a:br>
            <a:endParaRPr lang="en-IN" dirty="0"/>
          </a:p>
        </p:txBody>
      </p:sp>
      <p:sp>
        <p:nvSpPr>
          <p:cNvPr id="3" name="Content Placeholder 2">
            <a:extLst>
              <a:ext uri="{FF2B5EF4-FFF2-40B4-BE49-F238E27FC236}">
                <a16:creationId xmlns:a16="http://schemas.microsoft.com/office/drawing/2014/main" id="{A66F1127-8274-E540-0F3D-2ECEC9F6D655}"/>
              </a:ext>
            </a:extLst>
          </p:cNvPr>
          <p:cNvSpPr>
            <a:spLocks noGrp="1"/>
          </p:cNvSpPr>
          <p:nvPr>
            <p:ph idx="1"/>
          </p:nvPr>
        </p:nvSpPr>
        <p:spPr/>
        <p:txBody>
          <a:bodyPr/>
          <a:lstStyle/>
          <a:p>
            <a:pPr marL="0" indent="0">
              <a:buNone/>
            </a:pPr>
            <a:endParaRPr lang="en-US" dirty="0"/>
          </a:p>
          <a:p>
            <a:pPr marL="0" indent="0">
              <a:buNone/>
            </a:pPr>
            <a:endParaRPr lang="en-US" dirty="0"/>
          </a:p>
          <a:p>
            <a:pPr marL="0" indent="0">
              <a:buNone/>
            </a:pPr>
            <a:r>
              <a:rPr lang="en-US" dirty="0">
                <a:latin typeface="Times New Roman" panose="02020603050405020304" pitchFamily="18" charset="0"/>
                <a:cs typeface="Times New Roman" panose="02020603050405020304" pitchFamily="18" charset="0"/>
              </a:rPr>
              <a:t>• Tools: Power BI, Excel, GitHub.</a:t>
            </a:r>
          </a:p>
          <a:p>
            <a:pPr marL="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Version Control: Git commits were regularly updated to track project evolution.</a:t>
            </a:r>
          </a:p>
          <a:p>
            <a:pPr marL="0" indent="0">
              <a:buNone/>
            </a:pP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Challenges: Handling data joins, ensuring proper relationships, and managing DAX performance optimization.</a:t>
            </a:r>
          </a:p>
          <a:p>
            <a:endParaRPr lang="en-IN" dirty="0"/>
          </a:p>
        </p:txBody>
      </p:sp>
    </p:spTree>
    <p:extLst>
      <p:ext uri="{BB962C8B-B14F-4D97-AF65-F5344CB8AC3E}">
        <p14:creationId xmlns:p14="http://schemas.microsoft.com/office/powerpoint/2010/main" val="272149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09291-49B0-886A-179D-4D906DD85897}"/>
              </a:ext>
            </a:extLst>
          </p:cNvPr>
          <p:cNvSpPr>
            <a:spLocks noGrp="1"/>
          </p:cNvSpPr>
          <p:nvPr>
            <p:ph type="title"/>
          </p:nvPr>
        </p:nvSpPr>
        <p:spPr/>
        <p:txBody>
          <a:bodyPr/>
          <a:lstStyle/>
          <a:p>
            <a:r>
              <a:rPr lang="en-IN" dirty="0"/>
              <a:t>						   </a:t>
            </a:r>
            <a:r>
              <a:rPr lang="en-IN" dirty="0">
                <a:solidFill>
                  <a:schemeClr val="accent4">
                    <a:lumMod val="50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446429E-5F41-FB3E-AA91-7075954E3647}"/>
              </a:ext>
            </a:extLst>
          </p:cNvPr>
          <p:cNvSpPr>
            <a:spLocks noGrp="1"/>
          </p:cNvSpPr>
          <p:nvPr>
            <p:ph idx="1"/>
          </p:nvPr>
        </p:nvSpPr>
        <p:spPr/>
        <p:txBody>
          <a:bodyPr/>
          <a:lstStyle/>
          <a:p>
            <a:pPr marL="0" indent="0">
              <a:buNone/>
            </a:pPr>
            <a:endParaRPr lang="en-US" dirty="0"/>
          </a:p>
          <a:p>
            <a:pPr>
              <a:lnSpc>
                <a:spcPct val="200000"/>
              </a:lnSpc>
            </a:pPr>
            <a:r>
              <a:rPr lang="en-US" dirty="0">
                <a:latin typeface="Times New Roman" panose="02020603050405020304" pitchFamily="18" charset="0"/>
                <a:cs typeface="Times New Roman" panose="02020603050405020304" pitchFamily="18" charset="0"/>
              </a:rPr>
              <a:t>This dashboard successfully delivers actionable insights into the sales performance of the Medical Equipment and Pharma sectors. By leveraging Power BI’s interactive features, it enhances visibility across business dimensions and supports data-driven decision-making</a:t>
            </a:r>
            <a:r>
              <a:rPr lang="en-US" dirty="0"/>
              <a:t>.</a:t>
            </a:r>
          </a:p>
          <a:p>
            <a:endParaRPr lang="en-IN" dirty="0"/>
          </a:p>
        </p:txBody>
      </p:sp>
    </p:spTree>
    <p:extLst>
      <p:ext uri="{BB962C8B-B14F-4D97-AF65-F5344CB8AC3E}">
        <p14:creationId xmlns:p14="http://schemas.microsoft.com/office/powerpoint/2010/main" val="21570963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40215-1BBF-1EAE-F6A0-A08229C7819E}"/>
              </a:ext>
            </a:extLst>
          </p:cNvPr>
          <p:cNvSpPr>
            <a:spLocks noGrp="1"/>
          </p:cNvSpPr>
          <p:nvPr>
            <p:ph type="title"/>
          </p:nvPr>
        </p:nvSpPr>
        <p:spPr>
          <a:xfrm>
            <a:off x="573426" y="1183842"/>
            <a:ext cx="8596668" cy="2595460"/>
          </a:xfrm>
        </p:spPr>
        <p:txBody>
          <a:bodyPr/>
          <a:lstStyle/>
          <a:p>
            <a:r>
              <a:rPr lang="en-IN" dirty="0"/>
              <a:t>					</a:t>
            </a:r>
            <a:r>
              <a:rPr lang="en-IN" sz="6000" dirty="0">
                <a:latin typeface="Times New Roman" panose="02020603050405020304" pitchFamily="18" charset="0"/>
                <a:cs typeface="Times New Roman" panose="02020603050405020304" pitchFamily="18" charset="0"/>
              </a:rPr>
              <a:t>	</a:t>
            </a:r>
            <a:r>
              <a:rPr lang="en-IN" sz="6000" dirty="0">
                <a:solidFill>
                  <a:schemeClr val="accent4">
                    <a:lumMod val="50000"/>
                  </a:schemeClr>
                </a:solidFill>
                <a:latin typeface="Times New Roman" panose="02020603050405020304" pitchFamily="18" charset="0"/>
                <a:cs typeface="Times New Roman" panose="02020603050405020304" pitchFamily="18" charset="0"/>
              </a:rPr>
              <a:t>Thank you !!  </a:t>
            </a:r>
            <a:endParaRPr lang="en-IN" dirty="0">
              <a:solidFill>
                <a:schemeClr val="accent4">
                  <a:lumMod val="50000"/>
                </a:schemeClr>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C69D8CC6-EA51-537B-F958-544CC2E22602}"/>
              </a:ext>
            </a:extLst>
          </p:cNvPr>
          <p:cNvSpPr>
            <a:spLocks noGrp="1"/>
          </p:cNvSpPr>
          <p:nvPr>
            <p:ph type="body" idx="1"/>
          </p:nvPr>
        </p:nvSpPr>
        <p:spPr/>
        <p:txBody>
          <a:bodyPr/>
          <a:lstStyle/>
          <a:p>
            <a:endParaRPr lang="en-IN" dirty="0"/>
          </a:p>
          <a:p>
            <a:endParaRPr lang="en-IN" dirty="0"/>
          </a:p>
          <a:p>
            <a:r>
              <a:rPr lang="en-IN" sz="2400" dirty="0"/>
              <a:t>-Ankita Nademwar,  Data Analyst Intern</a:t>
            </a:r>
          </a:p>
          <a:p>
            <a:endParaRPr lang="en-IN" dirty="0"/>
          </a:p>
        </p:txBody>
      </p:sp>
    </p:spTree>
    <p:extLst>
      <p:ext uri="{BB962C8B-B14F-4D97-AF65-F5344CB8AC3E}">
        <p14:creationId xmlns:p14="http://schemas.microsoft.com/office/powerpoint/2010/main" val="900019645"/>
      </p:ext>
    </p:extLst>
  </p:cSld>
  <p:clrMapOvr>
    <a:masterClrMapping/>
  </p:clrMapOvr>
</p:sld>
</file>

<file path=ppt/theme/theme1.xml><?xml version="1.0" encoding="utf-8"?>
<a:theme xmlns:a="http://schemas.openxmlformats.org/drawingml/2006/main" name="Facet">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
  <TotalTime>21</TotalTime>
  <Words>558</Words>
  <Application>Microsoft Office PowerPoint</Application>
  <PresentationFormat>Widescreen</PresentationFormat>
  <Paragraphs>66</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Times New Roman</vt:lpstr>
      <vt:lpstr>Trebuchet MS</vt:lpstr>
      <vt:lpstr>Wingdings 3</vt:lpstr>
      <vt:lpstr>Facet</vt:lpstr>
      <vt:lpstr>Medical Equipment and Pharma Sales Dashboard</vt:lpstr>
      <vt:lpstr>Problem Statement &amp; Objectives </vt:lpstr>
      <vt:lpstr>                  Data Overview </vt:lpstr>
      <vt:lpstr>     Data Preparation </vt:lpstr>
      <vt:lpstr>   Dashboard Design Approach </vt:lpstr>
      <vt:lpstr>            1-Overview page</vt:lpstr>
      <vt:lpstr>          2-Product Deep-dive page</vt:lpstr>
      <vt:lpstr>   3-Region Deep-dive Page</vt:lpstr>
      <vt:lpstr>                      Key Findings </vt:lpstr>
      <vt:lpstr>     Recommendations </vt:lpstr>
      <vt:lpstr>     Tools &amp; Tech Stack </vt:lpstr>
      <vt:lpstr>         Conclusion</vt:lpstr>
      <vt:lpstr>      Thank you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Ankita Nademwar</dc:creator>
  <cp:lastModifiedBy>Ankita Nademwar</cp:lastModifiedBy>
  <cp:revision>1</cp:revision>
  <dcterms:created xsi:type="dcterms:W3CDTF">2025-11-04T12:28:09Z</dcterms:created>
  <dcterms:modified xsi:type="dcterms:W3CDTF">2025-11-04T12:49:44Z</dcterms:modified>
</cp:coreProperties>
</file>